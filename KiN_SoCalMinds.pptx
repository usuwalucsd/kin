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EDF8"/>
    <a:srgbClr val="3C649D"/>
    <a:srgbClr val="172A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24"/>
    <p:restoredTop sz="94608"/>
  </p:normalViewPr>
  <p:slideViewPr>
    <p:cSldViewPr snapToGrid="0">
      <p:cViewPr>
        <p:scale>
          <a:sx n="96" d="100"/>
          <a:sy n="96" d="100"/>
        </p:scale>
        <p:origin x="-16008" y="-12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520720-BB08-3943-9430-401B3DF7608F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F18680-94F3-EA4E-9482-ED459A574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129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18680-94F3-EA4E-9482-ED459A5740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844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3E651-EE64-664F-A529-C0D72636703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1963-2359-A34E-A323-1D2274170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033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3E651-EE64-664F-A529-C0D72636703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1963-2359-A34E-A323-1D2274170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451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>
                    <a:tint val="82000"/>
                  </a:schemeClr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82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3E651-EE64-664F-A529-C0D72636703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1963-2359-A34E-A323-1D2274170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8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3E651-EE64-664F-A529-C0D72636703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1963-2359-A34E-A323-1D2274170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114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3E651-EE64-664F-A529-C0D72636703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1963-2359-A34E-A323-1D2274170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214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3E651-EE64-664F-A529-C0D72636703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1963-2359-A34E-A323-1D2274170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757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3E651-EE64-664F-A529-C0D72636703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1963-2359-A34E-A323-1D2274170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624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3E651-EE64-664F-A529-C0D72636703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1963-2359-A34E-A323-1D2274170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895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3E651-EE64-664F-A529-C0D72636703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1963-2359-A34E-A323-1D2274170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490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3E651-EE64-664F-A529-C0D72636703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1963-2359-A34E-A323-1D2274170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920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3E651-EE64-664F-A529-C0D72636703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1963-2359-A34E-A323-1D2274170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185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53E651-EE64-664F-A529-C0D72636703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441963-2359-A34E-A323-1D2274170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175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emf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logo with dolphins jumping out of the water&#10;&#10;AI-generated content may be incorrect.">
            <a:extLst>
              <a:ext uri="{FF2B5EF4-FFF2-40B4-BE49-F238E27FC236}">
                <a16:creationId xmlns:a16="http://schemas.microsoft.com/office/drawing/2014/main" id="{A59CE378-9638-48FC-4BF5-CA407911F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04" t="6656" r="11190" b="12630"/>
          <a:stretch>
            <a:fillRect/>
          </a:stretch>
        </p:blipFill>
        <p:spPr>
          <a:xfrm>
            <a:off x="36545682" y="38683"/>
            <a:ext cx="5465187" cy="5590372"/>
          </a:xfrm>
          <a:prstGeom prst="rect">
            <a:avLst/>
          </a:prstGeom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61DC52F7-F335-0979-407C-7C2E03921C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0331" y="433109"/>
            <a:ext cx="5465187" cy="550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D746D7BB-2953-3465-50A5-52B0658FB35D}"/>
              </a:ext>
            </a:extLst>
          </p:cNvPr>
          <p:cNvSpPr txBox="1"/>
          <p:nvPr/>
        </p:nvSpPr>
        <p:spPr>
          <a:xfrm>
            <a:off x="9160167" y="1577983"/>
            <a:ext cx="2557086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600" b="1" dirty="0">
                <a:latin typeface="Calibri" panose="020F0502020204030204" pitchFamily="34" charset="0"/>
                <a:cs typeface="Calibri" panose="020F0502020204030204" pitchFamily="34" charset="0"/>
              </a:rPr>
              <a:t>Children’s Understanding of When to Negotiate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B62280-AE72-6D76-DCA9-79D7C770879C}"/>
              </a:ext>
            </a:extLst>
          </p:cNvPr>
          <p:cNvSpPr txBox="1"/>
          <p:nvPr/>
        </p:nvSpPr>
        <p:spPr>
          <a:xfrm>
            <a:off x="9160166" y="3147643"/>
            <a:ext cx="2557086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5800" dirty="0">
                <a:latin typeface="Calibri" panose="020F0502020204030204" pitchFamily="34" charset="0"/>
                <a:cs typeface="Calibri" panose="020F0502020204030204" pitchFamily="34" charset="0"/>
              </a:rPr>
              <a:t>Urvi Suwal &amp; Martin Zettersten </a:t>
            </a:r>
          </a:p>
          <a:p>
            <a:pPr algn="ctr"/>
            <a:r>
              <a:rPr lang="en-US" sz="5800" dirty="0">
                <a:latin typeface="Calibri" panose="020F0502020204030204" pitchFamily="34" charset="0"/>
                <a:cs typeface="Calibri" panose="020F0502020204030204" pitchFamily="34" charset="0"/>
              </a:rPr>
              <a:t>University of California, San Diego</a:t>
            </a:r>
            <a:endParaRPr lang="en-US" sz="58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A7BE11A-185F-D2A7-2BA9-74AE0AFE3025}"/>
              </a:ext>
            </a:extLst>
          </p:cNvPr>
          <p:cNvSpPr/>
          <p:nvPr/>
        </p:nvSpPr>
        <p:spPr>
          <a:xfrm>
            <a:off x="15148631" y="6398473"/>
            <a:ext cx="13593938" cy="26005058"/>
          </a:xfrm>
          <a:prstGeom prst="rect">
            <a:avLst/>
          </a:prstGeom>
          <a:noFill/>
          <a:ln w="155575">
            <a:solidFill>
              <a:srgbClr val="DFE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D34E062-AB67-E04A-01F3-F01D8F703DD9}"/>
              </a:ext>
            </a:extLst>
          </p:cNvPr>
          <p:cNvSpPr/>
          <p:nvPr/>
        </p:nvSpPr>
        <p:spPr>
          <a:xfrm>
            <a:off x="870906" y="6427521"/>
            <a:ext cx="13593938" cy="9713167"/>
          </a:xfrm>
          <a:prstGeom prst="rect">
            <a:avLst/>
          </a:prstGeom>
          <a:solidFill>
            <a:srgbClr val="DFEDF8"/>
          </a:solidFill>
          <a:ln w="155575">
            <a:solidFill>
              <a:srgbClr val="DFE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BFEE688-0891-4259-5D52-07F1D08EC8F2}"/>
              </a:ext>
            </a:extLst>
          </p:cNvPr>
          <p:cNvSpPr/>
          <p:nvPr/>
        </p:nvSpPr>
        <p:spPr>
          <a:xfrm>
            <a:off x="29426356" y="6427521"/>
            <a:ext cx="13593938" cy="15492489"/>
          </a:xfrm>
          <a:prstGeom prst="rect">
            <a:avLst/>
          </a:prstGeom>
          <a:noFill/>
          <a:ln w="155575">
            <a:solidFill>
              <a:srgbClr val="DFE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C62B318-0957-47FC-877F-BFEF144BA7B9}"/>
              </a:ext>
            </a:extLst>
          </p:cNvPr>
          <p:cNvSpPr txBox="1"/>
          <p:nvPr/>
        </p:nvSpPr>
        <p:spPr>
          <a:xfrm>
            <a:off x="1445173" y="6962087"/>
            <a:ext cx="12472514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b="1" dirty="0">
                <a:latin typeface="Calibri" panose="020F0502020204030204" pitchFamily="34" charset="0"/>
                <a:cs typeface="Calibri" panose="020F0502020204030204" pitchFamily="34" charset="0"/>
              </a:rPr>
              <a:t>Motivation</a:t>
            </a:r>
          </a:p>
          <a:p>
            <a:endParaRPr lang="en-US" sz="15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Negotiations are pervasive in communication and interpersonal life. They are a critical part of human interaction that allows people to align competing goals to achieve a desired outcome, and an important aspect of conflict resolution and problem-solving. Prior work shows different ways in which children engage in behaviors that resemble negotiation such as:</a:t>
            </a:r>
          </a:p>
          <a:p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bargaining (</a:t>
            </a:r>
            <a:r>
              <a:rPr lang="en-US" sz="3400" dirty="0" err="1">
                <a:latin typeface="Calibri" panose="020F0502020204030204" pitchFamily="34" charset="0"/>
                <a:cs typeface="Calibri" panose="020F0502020204030204" pitchFamily="34" charset="0"/>
              </a:rPr>
              <a:t>Grueneisen</a:t>
            </a:r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 and Tomasello, 2022)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boundary probing (Bridgers et al., 2024)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producing counterarguments (</a:t>
            </a:r>
            <a:r>
              <a:rPr lang="en-US" sz="3400" dirty="0" err="1">
                <a:latin typeface="Calibri" panose="020F0502020204030204" pitchFamily="34" charset="0"/>
                <a:cs typeface="Calibri" panose="020F0502020204030204" pitchFamily="34" charset="0"/>
              </a:rPr>
              <a:t>Köymen</a:t>
            </a:r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 et al., 2019)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500" b="1" i="1" dirty="0">
                <a:latin typeface="Calibri" panose="020F0502020204030204" pitchFamily="34" charset="0"/>
                <a:cs typeface="Calibri" panose="020F0502020204030204" pitchFamily="34" charset="0"/>
              </a:rPr>
              <a:t>When does negotiation become necessary? Do children strategically choose to negotiate depending on prior failed interactions and the magnitude of the request?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ECFCA5B-F1C2-464C-C5A8-81BAC902D004}"/>
              </a:ext>
            </a:extLst>
          </p:cNvPr>
          <p:cNvSpPr/>
          <p:nvPr/>
        </p:nvSpPr>
        <p:spPr>
          <a:xfrm>
            <a:off x="29439911" y="22554402"/>
            <a:ext cx="13593938" cy="5417710"/>
          </a:xfrm>
          <a:prstGeom prst="rect">
            <a:avLst/>
          </a:prstGeom>
          <a:solidFill>
            <a:srgbClr val="DFEDF8"/>
          </a:solidFill>
          <a:ln w="155575">
            <a:solidFill>
              <a:srgbClr val="DFE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4AB05E7-2444-AE9C-4168-35D384CC0D8F}"/>
              </a:ext>
            </a:extLst>
          </p:cNvPr>
          <p:cNvSpPr txBox="1"/>
          <p:nvPr/>
        </p:nvSpPr>
        <p:spPr>
          <a:xfrm>
            <a:off x="30041288" y="23033731"/>
            <a:ext cx="12472514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b="1" dirty="0">
                <a:latin typeface="Calibri" panose="020F0502020204030204" pitchFamily="34" charset="0"/>
                <a:cs typeface="Calibri" panose="020F0502020204030204" pitchFamily="34" charset="0"/>
              </a:rPr>
              <a:t>Future Directions</a:t>
            </a:r>
          </a:p>
          <a:p>
            <a:pPr algn="ctr"/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What are other factors children are sensitive to? For e.g. social relationship, costliness of the request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Parent survey to explore the emergence, extent, and circumstances that prompt negotiating behavior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Do children have an intuition/understanding of which negotiating strategy works better?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42CABA3-FD12-8509-1693-66B4737B5227}"/>
              </a:ext>
            </a:extLst>
          </p:cNvPr>
          <p:cNvSpPr txBox="1"/>
          <p:nvPr/>
        </p:nvSpPr>
        <p:spPr>
          <a:xfrm>
            <a:off x="30000623" y="29120313"/>
            <a:ext cx="12472514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b="1" dirty="0">
                <a:latin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lang="en-US" sz="2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Bridgers, S., et al. (2025). </a:t>
            </a:r>
            <a:r>
              <a:rPr lang="en-US" sz="3400" i="1" dirty="0">
                <a:latin typeface="Calibri" panose="020F0502020204030204" pitchFamily="34" charset="0"/>
                <a:cs typeface="Calibri" panose="020F0502020204030204" pitchFamily="34" charset="0"/>
              </a:rPr>
              <a:t>Child Development </a:t>
            </a:r>
          </a:p>
          <a:p>
            <a:r>
              <a:rPr lang="en-US" sz="3400" dirty="0" err="1">
                <a:latin typeface="Calibri" panose="020F0502020204030204" pitchFamily="34" charset="0"/>
                <a:cs typeface="Calibri" panose="020F0502020204030204" pitchFamily="34" charset="0"/>
              </a:rPr>
              <a:t>Grueneisen</a:t>
            </a:r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, S., &amp; Tomasello, M. (2022). </a:t>
            </a:r>
            <a:r>
              <a:rPr lang="en-US" sz="3400" i="1" dirty="0">
                <a:latin typeface="Calibri" panose="020F0502020204030204" pitchFamily="34" charset="0"/>
                <a:cs typeface="Calibri" panose="020F0502020204030204" pitchFamily="34" charset="0"/>
              </a:rPr>
              <a:t>Child Development</a:t>
            </a:r>
          </a:p>
          <a:p>
            <a:r>
              <a:rPr lang="en-US" sz="3400" dirty="0" err="1">
                <a:latin typeface="Calibri" panose="020F0502020204030204" pitchFamily="34" charset="0"/>
                <a:cs typeface="Calibri" panose="020F0502020204030204" pitchFamily="34" charset="0"/>
              </a:rPr>
              <a:t>Köymen</a:t>
            </a:r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, B., et al. (2020). </a:t>
            </a:r>
            <a:r>
              <a:rPr lang="en-US" sz="3400" i="1" dirty="0">
                <a:latin typeface="Calibri" panose="020F0502020204030204" pitchFamily="34" charset="0"/>
                <a:cs typeface="Calibri" panose="020F0502020204030204" pitchFamily="34" charset="0"/>
              </a:rPr>
              <a:t>Child Development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106F7C7-2562-B3B5-4BFC-AF73589198EA}"/>
              </a:ext>
            </a:extLst>
          </p:cNvPr>
          <p:cNvSpPr/>
          <p:nvPr/>
        </p:nvSpPr>
        <p:spPr>
          <a:xfrm>
            <a:off x="29439911" y="28593063"/>
            <a:ext cx="13593938" cy="3810468"/>
          </a:xfrm>
          <a:prstGeom prst="rect">
            <a:avLst/>
          </a:prstGeom>
          <a:noFill/>
          <a:ln w="155575">
            <a:solidFill>
              <a:srgbClr val="DFE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B089DD-670C-1993-3846-59A8ECC653C5}"/>
              </a:ext>
            </a:extLst>
          </p:cNvPr>
          <p:cNvSpPr txBox="1"/>
          <p:nvPr/>
        </p:nvSpPr>
        <p:spPr>
          <a:xfrm>
            <a:off x="15709343" y="6962087"/>
            <a:ext cx="12472514" cy="1529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Conditions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We manipulate these scenarios across two orthogonal dimensions: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Magnitude of the request: how far does the request exceed what is typically allowed (small ask vs. big ask)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1000" i="1" dirty="0">
                <a:latin typeface="Calibri" panose="020F0502020204030204" pitchFamily="34" charset="0"/>
                <a:cs typeface="Calibri" panose="020F0502020204030204" pitchFamily="34" charset="0"/>
              </a:rPr>
              <a:t>		              </a:t>
            </a:r>
          </a:p>
          <a:p>
            <a:r>
              <a:rPr lang="en-US" sz="3400" i="1" dirty="0">
                <a:latin typeface="Calibri" panose="020F0502020204030204" pitchFamily="34" charset="0"/>
                <a:cs typeface="Calibri" panose="020F0502020204030204" pitchFamily="34" charset="0"/>
              </a:rPr>
              <a:t>		    Small ask: 	</a:t>
            </a:r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						       </a:t>
            </a:r>
            <a:r>
              <a:rPr lang="en-US" sz="3400" i="1" dirty="0">
                <a:latin typeface="Calibri" panose="020F0502020204030204" pitchFamily="34" charset="0"/>
                <a:cs typeface="Calibri" panose="020F0502020204030204" pitchFamily="34" charset="0"/>
              </a:rPr>
              <a:t>Big ask:</a:t>
            </a:r>
          </a:p>
          <a:p>
            <a:endParaRPr lang="en-US" sz="3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buFont typeface="+mj-lt"/>
              <a:buAutoNum type="arabicPeriod" startAt="2"/>
            </a:pPr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Interaction history: whether or not a request has been previously made to a parent (no prior attempt vs. failed prior attempt) 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buFont typeface="+mj-lt"/>
              <a:buAutoNum type="arabicPeriod" startAt="2"/>
            </a:pP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		    </a:t>
            </a:r>
            <a:r>
              <a:rPr lang="en-US" sz="3400" i="1" dirty="0">
                <a:latin typeface="Calibri" panose="020F0502020204030204" pitchFamily="34" charset="0"/>
                <a:cs typeface="Calibri" panose="020F0502020204030204" pitchFamily="34" charset="0"/>
              </a:rPr>
              <a:t>Failed interaction history: </a:t>
            </a:r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endParaRPr lang="en-US" sz="3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2x2, within-participants design; condition and scenario pairing is counterbalanced</a:t>
            </a:r>
          </a:p>
        </p:txBody>
      </p:sp>
      <p:pic>
        <p:nvPicPr>
          <p:cNvPr id="3" name="Picture 2" descr="A cartoon of a child thinking about candy&#10;&#10;AI-generated content may be incorrect.">
            <a:extLst>
              <a:ext uri="{FF2B5EF4-FFF2-40B4-BE49-F238E27FC236}">
                <a16:creationId xmlns:a16="http://schemas.microsoft.com/office/drawing/2014/main" id="{4366B0B0-4208-1529-F203-DBE4BC4C859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728" r="28733"/>
          <a:stretch>
            <a:fillRect/>
          </a:stretch>
        </p:blipFill>
        <p:spPr>
          <a:xfrm>
            <a:off x="22416790" y="10140108"/>
            <a:ext cx="4755490" cy="4346815"/>
          </a:xfrm>
          <a:prstGeom prst="rect">
            <a:avLst/>
          </a:prstGeom>
        </p:spPr>
      </p:pic>
      <p:pic>
        <p:nvPicPr>
          <p:cNvPr id="4" name="Picture 3" descr="A cartoon of a child thinking about candy&#10;&#10;AI-generated content may be incorrect.">
            <a:extLst>
              <a:ext uri="{FF2B5EF4-FFF2-40B4-BE49-F238E27FC236}">
                <a16:creationId xmlns:a16="http://schemas.microsoft.com/office/drawing/2014/main" id="{E42BB629-0CD9-F423-5DFF-7BDBD06D32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728" r="28733"/>
          <a:stretch>
            <a:fillRect/>
          </a:stretch>
        </p:blipFill>
        <p:spPr>
          <a:xfrm>
            <a:off x="17100588" y="10140108"/>
            <a:ext cx="4755490" cy="4346815"/>
          </a:xfrm>
          <a:prstGeom prst="rect">
            <a:avLst/>
          </a:prstGeom>
        </p:spPr>
      </p:pic>
      <p:pic>
        <p:nvPicPr>
          <p:cNvPr id="5" name="Picture 4" descr="A person and a child in a room with a table and chairs&#10;&#10;AI-generated content may be incorrect.">
            <a:extLst>
              <a:ext uri="{FF2B5EF4-FFF2-40B4-BE49-F238E27FC236}">
                <a16:creationId xmlns:a16="http://schemas.microsoft.com/office/drawing/2014/main" id="{DF4385C7-3736-FB6E-B01F-9189F5974F4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672" r="9790"/>
          <a:stretch>
            <a:fillRect/>
          </a:stretch>
        </p:blipFill>
        <p:spPr>
          <a:xfrm>
            <a:off x="17043969" y="16360833"/>
            <a:ext cx="4755490" cy="4346815"/>
          </a:xfrm>
          <a:prstGeom prst="rect">
            <a:avLst/>
          </a:prstGeom>
        </p:spPr>
      </p:pic>
      <p:pic>
        <p:nvPicPr>
          <p:cNvPr id="6" name="Picture 5" descr="A person and a child in a room with a table and chairs&#10;&#10;AI-generated content may be incorrect.">
            <a:extLst>
              <a:ext uri="{FF2B5EF4-FFF2-40B4-BE49-F238E27FC236}">
                <a16:creationId xmlns:a16="http://schemas.microsoft.com/office/drawing/2014/main" id="{46AD637C-39E1-FBCE-A451-5107DDD5365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8397" r="10064"/>
          <a:stretch>
            <a:fillRect/>
          </a:stretch>
        </p:blipFill>
        <p:spPr>
          <a:xfrm>
            <a:off x="22416790" y="16360833"/>
            <a:ext cx="4755490" cy="434681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0EF1494-39C3-5E3C-89E3-2FFD0DFBCD61}"/>
              </a:ext>
            </a:extLst>
          </p:cNvPr>
          <p:cNvSpPr/>
          <p:nvPr/>
        </p:nvSpPr>
        <p:spPr>
          <a:xfrm>
            <a:off x="857351" y="16953470"/>
            <a:ext cx="13593938" cy="15450061"/>
          </a:xfrm>
          <a:prstGeom prst="rect">
            <a:avLst/>
          </a:prstGeom>
          <a:noFill/>
          <a:ln w="155575">
            <a:solidFill>
              <a:srgbClr val="DFE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26F292-61C1-F91C-9D5F-1699B2370528}"/>
              </a:ext>
            </a:extLst>
          </p:cNvPr>
          <p:cNvSpPr txBox="1"/>
          <p:nvPr/>
        </p:nvSpPr>
        <p:spPr>
          <a:xfrm>
            <a:off x="1418063" y="17603106"/>
            <a:ext cx="12472514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b="1" dirty="0">
                <a:latin typeface="Calibri" panose="020F0502020204030204" pitchFamily="34" charset="0"/>
                <a:cs typeface="Calibri" panose="020F0502020204030204" pitchFamily="34" charset="0"/>
              </a:rPr>
              <a:t>Methods</a:t>
            </a:r>
          </a:p>
          <a:p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There are four everyday scenarios in which different agents make requests. In each scenario, there is a pre-existing constraint that makes the request something that the children are not normally granted or are typically refused.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0396A9-01EB-5CEC-7CF8-773FB393A786}"/>
              </a:ext>
            </a:extLst>
          </p:cNvPr>
          <p:cNvSpPr txBox="1"/>
          <p:nvPr/>
        </p:nvSpPr>
        <p:spPr>
          <a:xfrm>
            <a:off x="15709343" y="22448793"/>
            <a:ext cx="12472514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Procedure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Warm up trial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Four scenario blocks: </a:t>
            </a:r>
          </a:p>
          <a:p>
            <a:pPr marL="914400" lvl="1" indent="-457200">
              <a:buSzPct val="65000"/>
              <a:buFont typeface="Courier New" panose="02070309020205020404" pitchFamily="49" charset="0"/>
              <a:buChar char="o"/>
            </a:pPr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Agent wants something that they must request their parent for </a:t>
            </a:r>
          </a:p>
          <a:p>
            <a:pPr marL="914400" lvl="1" indent="-457200">
              <a:buSzPct val="65000"/>
              <a:buFont typeface="Courier New" panose="02070309020205020404" pitchFamily="49" charset="0"/>
              <a:buChar char="o"/>
            </a:pPr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Participants must decide what they think the agent should say in order to get what they want from their parent</a:t>
            </a:r>
          </a:p>
          <a:p>
            <a:pPr marL="914400" lvl="1" indent="-457200">
              <a:buSzPct val="65000"/>
              <a:buFont typeface="Courier New" panose="02070309020205020404" pitchFamily="49" charset="0"/>
              <a:buChar char="o"/>
            </a:pPr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Forced choice paradigm: a direct request (agent simply asks for the outcome) or a negotiating request (agent offers an appeal to strengthen their request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952DD8-AE9A-BAA2-9723-8B52EC830BB3}"/>
              </a:ext>
            </a:extLst>
          </p:cNvPr>
          <p:cNvSpPr txBox="1"/>
          <p:nvPr/>
        </p:nvSpPr>
        <p:spPr>
          <a:xfrm>
            <a:off x="29987068" y="6956886"/>
            <a:ext cx="124725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Children choose to negotiate after a failed request</a:t>
            </a:r>
          </a:p>
          <a:p>
            <a:pPr algn="ctr"/>
            <a:r>
              <a:rPr lang="en-US" sz="3400" i="1" dirty="0">
                <a:latin typeface="Calibri" panose="020F0502020204030204" pitchFamily="34" charset="0"/>
                <a:cs typeface="Calibri" panose="020F0502020204030204" pitchFamily="34" charset="0"/>
              </a:rPr>
              <a:t>*Note: pilot results</a:t>
            </a:r>
          </a:p>
          <a:p>
            <a:pPr algn="ctr"/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N = 21; M(age) = 5.67 years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3CC9B54-42A9-A45E-2251-2699E011F25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9043"/>
          <a:stretch>
            <a:fillRect/>
          </a:stretch>
        </p:blipFill>
        <p:spPr>
          <a:xfrm>
            <a:off x="18042835" y="27782132"/>
            <a:ext cx="7805530" cy="39935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Picture 25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0EAA2552-F656-19F8-08AE-7708DACFF24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874920" y="16126574"/>
            <a:ext cx="8159320" cy="5041294"/>
          </a:xfrm>
          <a:prstGeom prst="rect">
            <a:avLst/>
          </a:prstGeom>
        </p:spPr>
      </p:pic>
      <p:pic>
        <p:nvPicPr>
          <p:cNvPr id="37" name="Picture 36" descr="A graph with pink and green squares&#10;&#10;AI-generated content may be incorrect.">
            <a:extLst>
              <a:ext uri="{FF2B5EF4-FFF2-40B4-BE49-F238E27FC236}">
                <a16:creationId xmlns:a16="http://schemas.microsoft.com/office/drawing/2014/main" id="{90655BE6-A06A-7E8E-D817-A1F96E9C8D4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933562" y="8908933"/>
            <a:ext cx="8687966" cy="5367921"/>
          </a:xfrm>
          <a:prstGeom prst="rect">
            <a:avLst/>
          </a:prstGeom>
        </p:spPr>
      </p:pic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06E14328-AF18-7EF6-7606-351EEE7E13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502722"/>
              </p:ext>
            </p:extLst>
          </p:nvPr>
        </p:nvGraphicFramePr>
        <p:xfrm>
          <a:off x="1418063" y="20915745"/>
          <a:ext cx="12472514" cy="11150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6257">
                  <a:extLst>
                    <a:ext uri="{9D8B030D-6E8A-4147-A177-3AD203B41FA5}">
                      <a16:colId xmlns:a16="http://schemas.microsoft.com/office/drawing/2014/main" val="2472839909"/>
                    </a:ext>
                  </a:extLst>
                </a:gridCol>
                <a:gridCol w="6236257">
                  <a:extLst>
                    <a:ext uri="{9D8B030D-6E8A-4147-A177-3AD203B41FA5}">
                      <a16:colId xmlns:a16="http://schemas.microsoft.com/office/drawing/2014/main" val="984658512"/>
                    </a:ext>
                  </a:extLst>
                </a:gridCol>
              </a:tblGrid>
              <a:tr h="5575134">
                <a:tc>
                  <a:txBody>
                    <a:bodyPr/>
                    <a:lstStyle/>
                    <a:p>
                      <a:pPr algn="ctr"/>
                      <a:r>
                        <a:rPr lang="en-US" sz="3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Food</a:t>
                      </a:r>
                    </a:p>
                    <a:p>
                      <a:pPr algn="ctr"/>
                      <a:endParaRPr lang="en-US" sz="3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Activity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045578"/>
                  </a:ext>
                </a:extLst>
              </a:tr>
              <a:tr h="5575134">
                <a:tc>
                  <a:txBody>
                    <a:bodyPr/>
                    <a:lstStyle/>
                    <a:p>
                      <a:pPr algn="ctr"/>
                      <a:r>
                        <a:rPr lang="en-US" sz="34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Bedtime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4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Toy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248956"/>
                  </a:ext>
                </a:extLst>
              </a:tr>
            </a:tbl>
          </a:graphicData>
        </a:graphic>
      </p:graphicFrame>
      <p:pic>
        <p:nvPicPr>
          <p:cNvPr id="41" name="Picture 40" descr="A cartoon of a child thinking about candy&#10;&#10;AI-generated content may be incorrect.">
            <a:extLst>
              <a:ext uri="{FF2B5EF4-FFF2-40B4-BE49-F238E27FC236}">
                <a16:creationId xmlns:a16="http://schemas.microsoft.com/office/drawing/2014/main" id="{4A131C64-4AF4-0C39-222E-CF5225BA54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364" r="23908"/>
          <a:stretch>
            <a:fillRect/>
          </a:stretch>
        </p:blipFill>
        <p:spPr>
          <a:xfrm>
            <a:off x="1576865" y="21482236"/>
            <a:ext cx="5941506" cy="4659483"/>
          </a:xfrm>
          <a:prstGeom prst="rect">
            <a:avLst/>
          </a:prstGeom>
        </p:spPr>
      </p:pic>
      <p:pic>
        <p:nvPicPr>
          <p:cNvPr id="42" name="Picture 41" descr="A cartoon of a child in a room&#10;&#10;AI-generated content may be incorrect.">
            <a:extLst>
              <a:ext uri="{FF2B5EF4-FFF2-40B4-BE49-F238E27FC236}">
                <a16:creationId xmlns:a16="http://schemas.microsoft.com/office/drawing/2014/main" id="{988D0208-67C4-E028-F9FF-18C9605C0A0A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28273"/>
          <a:stretch>
            <a:fillRect/>
          </a:stretch>
        </p:blipFill>
        <p:spPr>
          <a:xfrm>
            <a:off x="7793681" y="21479043"/>
            <a:ext cx="5941506" cy="4659483"/>
          </a:xfrm>
          <a:prstGeom prst="rect">
            <a:avLst/>
          </a:prstGeom>
        </p:spPr>
      </p:pic>
      <p:pic>
        <p:nvPicPr>
          <p:cNvPr id="43" name="Picture 42" descr="A cartoon of a child thinking&#10;&#10;AI-generated content may be incorrect.">
            <a:extLst>
              <a:ext uri="{FF2B5EF4-FFF2-40B4-BE49-F238E27FC236}">
                <a16:creationId xmlns:a16="http://schemas.microsoft.com/office/drawing/2014/main" id="{8B6DF4DE-A98B-9234-1482-E15151B82DA5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4364" r="23908"/>
          <a:stretch>
            <a:fillRect/>
          </a:stretch>
        </p:blipFill>
        <p:spPr>
          <a:xfrm>
            <a:off x="7793681" y="27123097"/>
            <a:ext cx="5941506" cy="4659483"/>
          </a:xfrm>
          <a:prstGeom prst="rect">
            <a:avLst/>
          </a:prstGeom>
        </p:spPr>
      </p:pic>
      <p:pic>
        <p:nvPicPr>
          <p:cNvPr id="46" name="Picture 45" descr="A cartoon of a child in a bedroom&#10;&#10;AI-generated content may be incorrect.">
            <a:extLst>
              <a:ext uri="{FF2B5EF4-FFF2-40B4-BE49-F238E27FC236}">
                <a16:creationId xmlns:a16="http://schemas.microsoft.com/office/drawing/2014/main" id="{C3D9B47F-1E37-0D68-6AC4-4D05D655C193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4364" r="23910"/>
          <a:stretch>
            <a:fillRect/>
          </a:stretch>
        </p:blipFill>
        <p:spPr>
          <a:xfrm>
            <a:off x="1571819" y="27123096"/>
            <a:ext cx="5941506" cy="4659483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12214EEA-E014-BE62-62C3-7429AFCCA1EC}"/>
              </a:ext>
            </a:extLst>
          </p:cNvPr>
          <p:cNvSpPr txBox="1"/>
          <p:nvPr/>
        </p:nvSpPr>
        <p:spPr>
          <a:xfrm>
            <a:off x="30041288" y="14756183"/>
            <a:ext cx="7992952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b="1" dirty="0">
                <a:latin typeface="Calibri" panose="020F0502020204030204" pitchFamily="34" charset="0"/>
                <a:cs typeface="Calibri" panose="020F0502020204030204" pitchFamily="34" charset="0"/>
              </a:rPr>
              <a:t>Negotiation preference after failed interactions is consistent across scenarios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12CAD10-5925-9086-76CC-3F77CB443B4F}"/>
              </a:ext>
            </a:extLst>
          </p:cNvPr>
          <p:cNvSpPr txBox="1"/>
          <p:nvPr/>
        </p:nvSpPr>
        <p:spPr>
          <a:xfrm>
            <a:off x="38410359" y="15948918"/>
            <a:ext cx="4049223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Preliminary takeaways: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Overall preference for negotiating over direct request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Negotiating preference also tracks with ask size (but variability across scenarios)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100% consistency in negotiating request post failed interaction!</a:t>
            </a:r>
          </a:p>
        </p:txBody>
      </p:sp>
    </p:spTree>
    <p:extLst>
      <p:ext uri="{BB962C8B-B14F-4D97-AF65-F5344CB8AC3E}">
        <p14:creationId xmlns:p14="http://schemas.microsoft.com/office/powerpoint/2010/main" val="3511880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779</TotalTime>
  <Words>489</Words>
  <Application>Microsoft Macintosh PowerPoint</Application>
  <PresentationFormat>Custom</PresentationFormat>
  <Paragraphs>73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Suwal, Urvi</dc:creator>
  <cp:lastModifiedBy>Suwal, Urvi</cp:lastModifiedBy>
  <cp:revision>16</cp:revision>
  <dcterms:created xsi:type="dcterms:W3CDTF">2026-02-26T19:39:14Z</dcterms:created>
  <dcterms:modified xsi:type="dcterms:W3CDTF">2026-02-27T19:23:49Z</dcterms:modified>
</cp:coreProperties>
</file>